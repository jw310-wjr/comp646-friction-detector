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9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40080"/>
            <a:ext cx="11155680" cy="4434840"/>
          </a:xfrm>
          <a:prstGeom prst="rect">
            <a:avLst/>
          </a:prstGeom>
          <a:solidFill>
            <a:srgbClr val="22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9B77"/>
                </a:solidFill>
              </a:rPr>
              <a:t>Slide 1 / 5  — 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Multimodal Pedagogical Friction Detector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29968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>
                <a:solidFill>
                  <a:srgbClr val="B0C4DE"/>
                </a:solidFill>
              </a:rPr>
              <a:t>Fusing Facial Affect  ·  Talk Moves  ·  LLM Reasoning
to Surface Teachable Moments at Scale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944368"/>
            <a:ext cx="11155680" cy="54864"/>
          </a:xfrm>
          <a:prstGeom prst="rect">
            <a:avLst/>
          </a:prstGeom>
          <a:solidFill>
            <a:srgbClr val="009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3072384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🎓  Manual classroom coding needs years of expert effort — cannot scale to real-time feedback (TIMSS 1999)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465576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😕  When students are confused, the teacher's NEXT MOVE is critical for deep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85876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🔍  Existing tools are single-modal: transcript OR affect — never fused with semantic reasoning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2519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🚀  Goal: automatically detect pedagogical friction across 53 lessons and 7 countries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547104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09ABE"/>
                </a:solidFill>
              </a:rPr>
              <a:t>Jingrui Wu  |  Rice University  |  COMP 646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009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Slide 2 / 5  —  Problem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0C4DE"/>
                </a:solidFill>
              </a:rPr>
              <a:t>What is Pedagogical Friction and what data do we use?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92824"/>
            <a:ext cx="1164031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C4DE"/>
                </a:solidFill>
              </a:rPr>
              <a:t>Jingrui Wu  |  Rice University  |  COMP 646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1005840"/>
          </a:xfrm>
          <a:prstGeom prst="rect">
            <a:avLst/>
          </a:prstGeom>
          <a:solidFill>
            <a:srgbClr val="00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444752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📌  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773936"/>
            <a:ext cx="111556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FFFFFF"/>
                </a:solidFill>
              </a:rPr>
              <a:t>Pedagogical Friction = a 30-second window where student confusion is elevated  AND  the teacher's talk move is low-quality (answer-giving, closed loops, transmission-only instruction)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560320"/>
            <a:ext cx="3675887" cy="18745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" y="2670048"/>
            <a:ext cx="341985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B77"/>
                </a:solidFill>
              </a:rPr>
              <a:t>📹  Video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3035808"/>
            <a:ext cx="33467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55"/>
                </a:solidFill>
              </a:rPr>
              <a:t>TIMSS AU1 lesson (10 min)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3383280"/>
            <a:ext cx="33467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55"/>
                </a:solidFill>
              </a:rPr>
              <a:t>1,200 frames → DeepFace @ 2 Hz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" y="3730752"/>
            <a:ext cx="33467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55"/>
                </a:solidFill>
              </a:rPr>
              <a:t>87 bins  |  1 human-labelled positive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69663" y="2560320"/>
            <a:ext cx="3675887" cy="18745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79" y="2670048"/>
            <a:ext cx="341985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B77"/>
                </a:solidFill>
              </a:rPr>
              <a:t>📝  Transcript Corpus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34255" y="3035808"/>
            <a:ext cx="33467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55"/>
                </a:solidFill>
              </a:rPr>
              <a:t>53 TIMSS lessons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34255" y="3383280"/>
            <a:ext cx="33467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55"/>
                </a:solidFill>
              </a:rPr>
              <a:t>28 math + 25 science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34255" y="3730752"/>
            <a:ext cx="33467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55"/>
                </a:solidFill>
              </a:rPr>
              <a:t>7 countries  |  5,113 bins total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19286" y="2560320"/>
            <a:ext cx="3675887" cy="18745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47302" y="2670048"/>
            <a:ext cx="341985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B77"/>
                </a:solidFill>
              </a:rPr>
              <a:t>🏷  Annotation Labels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8" y="3035808"/>
            <a:ext cx="33467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55"/>
                </a:solidFill>
              </a:rPr>
              <a:t>Human: 1 positive (bin 11, AU1)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78" y="3383280"/>
            <a:ext cx="33467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55"/>
                </a:solidFill>
              </a:rPr>
              <a:t>Heuristic: keyword flags (31.5%)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78" y="3730752"/>
            <a:ext cx="33467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55"/>
                </a:solidFill>
              </a:rPr>
              <a:t>ELECTRA: fine-tuned TalkMoves (19.3%)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572000"/>
            <a:ext cx="11521440" cy="402336"/>
          </a:xfrm>
          <a:prstGeom prst="rect">
            <a:avLst/>
          </a:prstGeom>
          <a:solidFill>
            <a:srgbClr val="D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608576"/>
            <a:ext cx="111556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B2A4A"/>
                </a:solidFill>
              </a:rPr>
              <a:t>⏱  Shared 30-second temporal grid aligns vision &amp; language streams for every lesson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009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Slide 3 / 5  —  Pipeline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0C4DE"/>
                </a:solidFill>
              </a:rPr>
              <a:t>Two-stream fusion with z-score filter and LLM reranking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92824"/>
            <a:ext cx="1164031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C4DE"/>
                </a:solidFill>
              </a:rPr>
              <a:t>Jingrui Wu  |  Rice University  |  COMP 646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44752"/>
            <a:ext cx="2029968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44752"/>
            <a:ext cx="2029968" cy="50292"/>
          </a:xfrm>
          <a:prstGeom prst="rect">
            <a:avLst/>
          </a:prstGeom>
          <a:solidFill>
            <a:srgbClr val="00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517904"/>
            <a:ext cx="202996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7A5E"/>
                </a:solidFill>
              </a:rPr>
              <a:t>🎥
Video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" y="2267712"/>
            <a:ext cx="1883664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1B2A4A"/>
                </a:solidFill>
              </a:rPr>
              <a:t>DeepFace 2 Hz
confusion proxy cₜ
Eq. 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9152" y="2340864"/>
            <a:ext cx="1874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09B77"/>
                </a:solidFill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00884" y="1444752"/>
            <a:ext cx="2029968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00884" y="1444752"/>
            <a:ext cx="2029968" cy="50292"/>
          </a:xfrm>
          <a:prstGeom prst="rect">
            <a:avLst/>
          </a:prstGeom>
          <a:solidFill>
            <a:srgbClr val="00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00884" y="1517904"/>
            <a:ext cx="202996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7A5E"/>
                </a:solidFill>
              </a:rPr>
              <a:t>🎙
Audio/Text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74036" y="2267712"/>
            <a:ext cx="1883664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1B2A4A"/>
                </a:solidFill>
              </a:rPr>
              <a:t>Faster-Whisper
→ ELECTRA
talk-move label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9996" y="2340864"/>
            <a:ext cx="1874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09B77"/>
                </a:solidFill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81728" y="1444752"/>
            <a:ext cx="2029968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81728" y="1444752"/>
            <a:ext cx="2029968" cy="50292"/>
          </a:xfrm>
          <a:prstGeom prst="rect">
            <a:avLst/>
          </a:prstGeom>
          <a:solidFill>
            <a:srgbClr val="00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81728" y="1517904"/>
            <a:ext cx="202996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7A5E"/>
                </a:solidFill>
              </a:rPr>
              <a:t>📊
30-s Grid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2267712"/>
            <a:ext cx="1883664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1B2A4A"/>
                </a:solidFill>
              </a:rPr>
              <a:t>Mean c̄ₖ per bin
z-score filter
(z=1.0, top ~16%)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2340864"/>
            <a:ext cx="1874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09B77"/>
                </a:solidFill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62572" y="1444752"/>
            <a:ext cx="2029968" cy="2148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62572" y="1444752"/>
            <a:ext cx="2029968" cy="50292"/>
          </a:xfrm>
          <a:prstGeom prst="rect">
            <a:avLst/>
          </a:prstGeom>
          <a:solidFill>
            <a:srgbClr val="009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62572" y="1517904"/>
            <a:ext cx="202996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🤖
Claude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35724" y="2267712"/>
            <a:ext cx="1883664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FFFFFF"/>
                </a:solidFill>
              </a:rPr>
              <a:t>claude-sonnet-4-6
Friction verdict
+ alt. strategy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01684" y="2340864"/>
            <a:ext cx="1874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09B77"/>
                </a:solidFill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43416" y="1444752"/>
            <a:ext cx="2029968" cy="2148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3416" y="1444752"/>
            <a:ext cx="2029968" cy="50292"/>
          </a:xfrm>
          <a:prstGeom prst="rect">
            <a:avLst/>
          </a:prstGeom>
          <a:solidFill>
            <a:srgbClr val="009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43416" y="1517904"/>
            <a:ext cx="202996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✅
Output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16568" y="2267712"/>
            <a:ext cx="1883664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FFFFFF"/>
                </a:solidFill>
              </a:rPr>
              <a:t>friction: bool
rationale: str
alternative move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3749039"/>
            <a:ext cx="5486400" cy="694944"/>
          </a:xfrm>
          <a:prstGeom prst="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377647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2A4A"/>
                </a:solidFill>
              </a:rPr>
              <a:t>Confusion proxy (Eq. 1):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059936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444455"/>
                </a:solidFill>
              </a:rPr>
              <a:t>cₜ = Σ wₑ · pₜ(e)    w_fear=0.90, w_sad=0.85, w_disgust=0.50 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35040" y="3749039"/>
            <a:ext cx="5806440" cy="694944"/>
          </a:xfrm>
          <a:prstGeom prst="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72200" y="377647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2A4A"/>
                </a:solidFill>
              </a:rPr>
              <a:t>Candidate filter (Eq. 2):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72200" y="4059936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444455"/>
                </a:solidFill>
              </a:rPr>
              <a:t>c̄ₖ &gt; μ_C + z·σ_C   AND   qₖ ≠ high    (z=1.0 flags top ~16% of bins)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4572000"/>
            <a:ext cx="11521440" cy="365760"/>
          </a:xfrm>
          <a:prstGeom prst="rect">
            <a:avLst/>
          </a:prstGeom>
          <a:solidFill>
            <a:srgbClr val="D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4599432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1B2A4A"/>
                </a:solidFill>
              </a:rPr>
              <a:t>Talk Move fallback:  ① ELECTRA (fine-tuned)  →  ② Edu-ConvoKit  →  ③ Keyword heuristic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009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Slide 4 / 5  —  Experiments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0C4DE"/>
                </a:solidFill>
              </a:rPr>
              <a:t>Three evaluation tracks: video pipeline, scale-up, human annotation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92824"/>
            <a:ext cx="1164031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C4DE"/>
                </a:solidFill>
              </a:rPr>
              <a:t>Jingrui Wu  |  Rice University  |  COMP 646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44752"/>
            <a:ext cx="3675887" cy="2523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" y="1554480"/>
            <a:ext cx="341985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9B77"/>
                </a:solidFill>
              </a:rPr>
              <a:t>🎬  Track 1: AU1 Full Video (10 min)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1920240"/>
            <a:ext cx="33467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44455"/>
                </a:solidFill>
              </a:rPr>
              <a:t>1,200 frames → DeepFace + Whisper + ELECTRA + Claude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2267712"/>
            <a:ext cx="33467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44455"/>
                </a:solidFill>
              </a:rPr>
              <a:t>7 heuristic candidates → Claude rejects ALL (social disruption, not friction)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2615184"/>
            <a:ext cx="33467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44455"/>
                </a:solidFill>
              </a:rPr>
              <a:t>Wide-angle cameras → c̄ₖ = 0 every bin — vision unreliable at corpus scale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74235" y="1444752"/>
            <a:ext cx="3675887" cy="2523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2251" y="1554480"/>
            <a:ext cx="341985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9B77"/>
                </a:solidFill>
              </a:rPr>
              <a:t>📚  Track 2: 54-Lesson Video Scale-Up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8827" y="1920240"/>
            <a:ext cx="33467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44455"/>
                </a:solidFill>
              </a:rPr>
              <a:t>SLURM GPU array (NVIDIA A40)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8827" y="2267712"/>
            <a:ext cx="33467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44455"/>
                </a:solidFill>
              </a:rPr>
              <a:t>5,318 bins  |  1,797 flagged  |  Claude confirms 21 friction moments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38827" y="2615184"/>
            <a:ext cx="33467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44455"/>
                </a:solidFill>
              </a:rPr>
              <a:t>Wide-angle failure confirmed: strategy-only selection used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28430" y="1444752"/>
            <a:ext cx="3675887" cy="2889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56446" y="1554480"/>
            <a:ext cx="341985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9B77"/>
                </a:solidFill>
              </a:rPr>
              <a:t>👩‍🏫  Track 3: Human Evaluation (AU1, 87 bins)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3022" y="1920240"/>
            <a:ext cx="33467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44455"/>
                </a:solidFill>
              </a:rPr>
              <a:t>1 trained annotator → 1 positive (bin 11, 5:00–5:30)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3022" y="2267712"/>
            <a:ext cx="33467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44455"/>
                </a:solidFill>
              </a:rPr>
              <a:t>Heuristic:  P=0.05 / R=1.00 / F1=0.10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3022" y="2615184"/>
            <a:ext cx="33467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44455"/>
                </a:solidFill>
              </a:rPr>
              <a:t>ELECTRA:  F1=0.00  (answer-giving → 'No Move')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3022" y="2962656"/>
            <a:ext cx="33467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44455"/>
                </a:solidFill>
              </a:rPr>
              <a:t>Heuristic + Claude:  F1 = 1.00  (20 → 1 candidate)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572000"/>
            <a:ext cx="11521440" cy="457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599432"/>
            <a:ext cx="11155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🔑  Key finding: r = −0.35 correlation between heuristic &amp; ELECTRA risky-bin rates across 53 lessons  →  annotation methodology is a first-class design variable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009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Slide 5 / 5  —  Results &amp;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92824"/>
            <a:ext cx="1164031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C4DE"/>
                </a:solidFill>
              </a:rPr>
              <a:t>Jingrui Wu  |  Rice University  |  COMP 646  |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08176"/>
            <a:ext cx="2971800" cy="3383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35608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</a:rPr>
              <a:t>Condition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328416" y="1408176"/>
            <a:ext cx="960120" cy="3383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74136" y="1435608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</a:rPr>
              <a:t>Bins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5112" y="1408176"/>
            <a:ext cx="960120" cy="3383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70832" y="1435608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</a:rPr>
              <a:t>Flagged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21808" y="1408176"/>
            <a:ext cx="960120" cy="3383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67528" y="1435608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</a:rPr>
              <a:t>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18504" y="1408176"/>
            <a:ext cx="960120" cy="3383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1435608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</a:rPr>
              <a:t>F1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1746504"/>
            <a:ext cx="29718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1773936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B2A4A"/>
                </a:solidFill>
              </a:rPr>
              <a:t>Heuristic only  (AU1)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28416" y="1746504"/>
            <a:ext cx="9601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74136" y="1773936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1B2A4A"/>
                </a:solidFill>
              </a:rPr>
              <a:t>87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25112" y="1746504"/>
            <a:ext cx="9601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70832" y="1773936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1B2A4A"/>
                </a:solidFill>
              </a:rPr>
              <a:t>20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21808" y="1746504"/>
            <a:ext cx="9601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67528" y="1773936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1B2A4A"/>
                </a:solidFill>
              </a:rPr>
              <a:t>23%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18504" y="1746504"/>
            <a:ext cx="9601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1773936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1B2A4A"/>
                </a:solidFill>
              </a:rPr>
              <a:t>0.10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2084832"/>
            <a:ext cx="2971800" cy="329184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211226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B2A4A"/>
                </a:solidFill>
              </a:rPr>
              <a:t>ELECTRA only  (AU1)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28416" y="2084832"/>
            <a:ext cx="960120" cy="329184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74136" y="2112264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1B2A4A"/>
                </a:solidFill>
              </a:rPr>
              <a:t>87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25112" y="2084832"/>
            <a:ext cx="960120" cy="329184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70832" y="2112264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1B2A4A"/>
                </a:solidFill>
              </a:rPr>
              <a:t>33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21808" y="2084832"/>
            <a:ext cx="960120" cy="329184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67528" y="2112264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1B2A4A"/>
                </a:solidFill>
              </a:rPr>
              <a:t>38%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18504" y="2084832"/>
            <a:ext cx="960120" cy="329184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64224" y="2112264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1B2A4A"/>
                </a:solidFill>
              </a:rPr>
              <a:t>0.00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2423160"/>
            <a:ext cx="2971800" cy="329184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2450592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B2A4A"/>
                </a:solidFill>
              </a:rPr>
              <a:t>Heuristic + Claude  ✅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28416" y="2423160"/>
            <a:ext cx="960120" cy="329184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74136" y="2450592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1B2A4A"/>
                </a:solidFill>
              </a:rPr>
              <a:t>87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25112" y="2423160"/>
            <a:ext cx="960120" cy="329184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70832" y="2450592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1B2A4A"/>
                </a:solidFill>
              </a:rPr>
              <a:t>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321808" y="2423160"/>
            <a:ext cx="960120" cy="329184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67528" y="2450592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1B2A4A"/>
                </a:solidFill>
              </a:rPr>
              <a:t>1%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18504" y="2423160"/>
            <a:ext cx="960120" cy="329184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64224" y="2450592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1B2A4A"/>
                </a:solidFill>
              </a:rPr>
              <a:t>1.00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2761488"/>
            <a:ext cx="2971800" cy="329184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2788920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B2A4A"/>
                </a:solidFill>
              </a:rPr>
              <a:t>Heuristic  (53 lessons)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328416" y="2761488"/>
            <a:ext cx="960120" cy="329184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74136" y="2788920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1B2A4A"/>
                </a:solidFill>
              </a:rPr>
              <a:t>5113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325112" y="2761488"/>
            <a:ext cx="960120" cy="329184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370832" y="2788920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1B2A4A"/>
                </a:solidFill>
              </a:rPr>
              <a:t>1611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321808" y="2761488"/>
            <a:ext cx="960120" cy="329184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367528" y="2788920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1B2A4A"/>
                </a:solidFill>
              </a:rPr>
              <a:t>31.5%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18504" y="2761488"/>
            <a:ext cx="960120" cy="329184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64224" y="2788920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1B2A4A"/>
                </a:solidFill>
              </a:rPr>
              <a:t>—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0040" y="3099816"/>
            <a:ext cx="29718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5760" y="3127248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B2A4A"/>
                </a:solidFill>
              </a:rPr>
              <a:t>ELECTRA  (53 lessons)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328416" y="3099816"/>
            <a:ext cx="9601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374136" y="3127248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1B2A4A"/>
                </a:solidFill>
              </a:rPr>
              <a:t>5113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325112" y="3099816"/>
            <a:ext cx="9601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70832" y="3127248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1B2A4A"/>
                </a:solidFill>
              </a:rPr>
              <a:t>988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321808" y="3099816"/>
            <a:ext cx="9601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367528" y="3127248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1B2A4A"/>
                </a:solidFill>
              </a:rPr>
              <a:t>19.3%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318504" y="3099816"/>
            <a:ext cx="9601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64224" y="3127248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1B2A4A"/>
                </a:solidFill>
              </a:rPr>
              <a:t>—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20040" y="3438144"/>
            <a:ext cx="2971800" cy="329184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65760" y="3465576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B2A4A"/>
                </a:solidFill>
              </a:rPr>
              <a:t>+ Claude  (53 lessons) ✅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328416" y="3438144"/>
            <a:ext cx="960120" cy="329184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374136" y="3465576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1B2A4A"/>
                </a:solidFill>
              </a:rPr>
              <a:t>5113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325112" y="3438144"/>
            <a:ext cx="960120" cy="329184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370832" y="3465576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1B2A4A"/>
                </a:solidFill>
              </a:rPr>
              <a:t>211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321808" y="3438144"/>
            <a:ext cx="960120" cy="329184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367528" y="3465576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1B2A4A"/>
                </a:solidFill>
              </a:rPr>
              <a:t>4.1%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318504" y="3438144"/>
            <a:ext cx="960120" cy="329184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364224" y="3465576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1B2A4A"/>
                </a:solidFill>
              </a:rPr>
              <a:t>—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269480" y="1444752"/>
            <a:ext cx="4498848" cy="78638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379208" y="1499616"/>
            <a:ext cx="42793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9B77"/>
                </a:solidFill>
              </a:rPr>
              <a:t>🏆  F1 = 1.00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379208" y="1828800"/>
            <a:ext cx="42793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Claude fusion cuts false positives 20× on AU1
with zero missed detections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269480" y="2322576"/>
            <a:ext cx="4498848" cy="78638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379208" y="2377440"/>
            <a:ext cx="42793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9B77"/>
                </a:solidFill>
              </a:rPr>
              <a:t>📉  7.6× reduction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379208" y="2706624"/>
            <a:ext cx="42793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1,611 heuristic flags → 211 confirmed
friction moments corpus-wide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269480" y="3200400"/>
            <a:ext cx="4498848" cy="78638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79208" y="3255264"/>
            <a:ext cx="42793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9B77"/>
                </a:solidFill>
              </a:rPr>
              <a:t>🌍  r = −0.35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79208" y="3584448"/>
            <a:ext cx="42793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Heuristic vs ELECTRA rates anti-correlated
across 53 lessons, 7 countries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269480" y="4078224"/>
            <a:ext cx="4498848" cy="78638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79208" y="4133088"/>
            <a:ext cx="42793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9B77"/>
                </a:solidFill>
              </a:rPr>
              <a:t>📷  Vision limit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379208" y="4462272"/>
            <a:ext cx="42793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Wide-angle cameras → DeepFace unusable;
language stream is the primary signal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